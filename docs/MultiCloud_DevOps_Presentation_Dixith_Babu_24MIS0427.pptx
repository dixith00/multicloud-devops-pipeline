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F2D5A"/>
          </a:solidFill>
          <a:ln>
            <a:solidFill>
              <a:srgbClr val="0F2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i="0" sz="3400">
                <a:solidFill>
                  <a:srgbClr val="0F2D5A"/>
                </a:solidFill>
                <a:latin typeface="Calibri"/>
              </a:rPr>
              <a:t>MULTI-CLOUD DEVOPS PIPELINE</a:t>
            </a:r>
          </a:p>
          <a:p>
            <a:pPr>
              <a:spcBef>
                <a:spcPts val="800"/>
              </a:spcBef>
            </a:pPr>
            <a:r>
              <a:rPr b="0" i="0" sz="1500">
                <a:solidFill>
                  <a:srgbClr val="0078D4"/>
                </a:solidFill>
                <a:latin typeface="Calibri"/>
              </a:rPr>
              <a:t>Automated Multi-Cloud CI/CD &amp; DevSecOps Framework across AWS and Microsoft Azure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926080"/>
            <a:ext cx="4937760" cy="2560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090672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Course &amp; Academic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7472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i="0" sz="1100">
                <a:solidFill>
                  <a:srgbClr val="1E293B"/>
                </a:solidFill>
                <a:latin typeface="Calibri"/>
              </a:rPr>
              <a:t>Course Title: </a:t>
            </a:r>
            <a:r>
              <a:rPr b="0" i="0" sz="1100">
                <a:solidFill>
                  <a:srgbClr val="1F4E79"/>
                </a:solidFill>
                <a:latin typeface="Calibri"/>
              </a:rPr>
              <a:t>Agile Development Process And DevOps Lab</a:t>
            </a:r>
          </a:p>
          <a:p>
            <a:pPr>
              <a:spcAft>
                <a:spcPts val="800"/>
              </a:spcAft>
            </a:pPr>
            <a:r>
              <a:rPr b="1" i="0" sz="1100">
                <a:solidFill>
                  <a:srgbClr val="1E293B"/>
                </a:solidFill>
                <a:latin typeface="Calibri"/>
              </a:rPr>
              <a:t>Course Code: </a:t>
            </a:r>
            <a:r>
              <a:rPr b="0" i="0" sz="1100">
                <a:solidFill>
                  <a:srgbClr val="1F4E79"/>
                </a:solidFill>
                <a:latin typeface="Calibri"/>
              </a:rPr>
              <a:t>ISWE406P – L45+L46</a:t>
            </a:r>
          </a:p>
          <a:p>
            <a:pPr>
              <a:spcAft>
                <a:spcPts val="800"/>
              </a:spcAft>
            </a:pPr>
            <a:r>
              <a:rPr b="1" i="0" sz="1100">
                <a:solidFill>
                  <a:srgbClr val="1E293B"/>
                </a:solidFill>
                <a:latin typeface="Calibri"/>
              </a:rPr>
              <a:t>Faculty In-Charge: </a:t>
            </a:r>
            <a:r>
              <a:rPr b="0" i="0" sz="1100">
                <a:solidFill>
                  <a:srgbClr val="1F4E79"/>
                </a:solidFill>
                <a:latin typeface="Calibri"/>
              </a:rPr>
              <a:t>Dr. Arunkumar</a:t>
            </a:r>
          </a:p>
          <a:p>
            <a:pPr>
              <a:spcAft>
                <a:spcPts val="800"/>
              </a:spcAft>
            </a:pPr>
            <a:r>
              <a:rPr b="1" i="0" sz="1100">
                <a:solidFill>
                  <a:srgbClr val="1E293B"/>
                </a:solidFill>
                <a:latin typeface="Calibri"/>
              </a:rPr>
              <a:t>Academic Year: </a:t>
            </a:r>
            <a:r>
              <a:rPr b="0" i="0" sz="1100">
                <a:solidFill>
                  <a:srgbClr val="1F4E79"/>
                </a:solidFill>
                <a:latin typeface="Calibri"/>
              </a:rPr>
              <a:t>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5029200" cy="25603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309067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Project Presenter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47472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i="0" sz="1100">
                <a:solidFill>
                  <a:srgbClr val="1E293B"/>
                </a:solidFill>
                <a:latin typeface="Calibri"/>
              </a:rPr>
              <a:t>Student Name: </a:t>
            </a:r>
            <a:r>
              <a:rPr b="1" i="0" sz="1100">
                <a:solidFill>
                  <a:srgbClr val="0F2D5A"/>
                </a:solidFill>
                <a:latin typeface="Calibri"/>
              </a:rPr>
              <a:t>Dixith Babu A B</a:t>
            </a:r>
          </a:p>
          <a:p>
            <a:pPr>
              <a:spcAft>
                <a:spcPts val="800"/>
              </a:spcAft>
            </a:pPr>
            <a:r>
              <a:rPr b="1" i="0" sz="1100">
                <a:solidFill>
                  <a:srgbClr val="1E293B"/>
                </a:solidFill>
                <a:latin typeface="Calibri"/>
              </a:rPr>
              <a:t>Register Number: </a:t>
            </a:r>
            <a:r>
              <a:rPr b="1" i="0" sz="1100">
                <a:solidFill>
                  <a:srgbClr val="0F2D5A"/>
                </a:solidFill>
                <a:latin typeface="Calibri"/>
              </a:rPr>
              <a:t>24MIS0427</a:t>
            </a:r>
          </a:p>
          <a:p>
            <a:pPr>
              <a:spcAft>
                <a:spcPts val="800"/>
              </a:spcAft>
            </a:pPr>
            <a:r>
              <a:rPr b="1" i="0" sz="1100">
                <a:solidFill>
                  <a:srgbClr val="1E293B"/>
                </a:solidFill>
                <a:latin typeface="Calibri"/>
              </a:rPr>
              <a:t>Project Scope: </a:t>
            </a:r>
            <a:r>
              <a:rPr b="0" i="0" sz="1100">
                <a:solidFill>
                  <a:srgbClr val="1F4E79"/>
                </a:solidFill>
                <a:latin typeface="Calibri"/>
              </a:rPr>
              <a:t>End-to-End DevSecOps GitOps Pipeline</a:t>
            </a:r>
          </a:p>
          <a:p>
            <a:pPr>
              <a:spcAft>
                <a:spcPts val="800"/>
              </a:spcAft>
            </a:pPr>
            <a:r>
              <a:rPr b="1" i="0" sz="1100">
                <a:solidFill>
                  <a:srgbClr val="1E293B"/>
                </a:solidFill>
                <a:latin typeface="Calibri"/>
              </a:rPr>
              <a:t>Cloud Environments: </a:t>
            </a:r>
            <a:r>
              <a:rPr b="0" i="0" sz="1100">
                <a:solidFill>
                  <a:srgbClr val="1F4E79"/>
                </a:solidFill>
                <a:latin typeface="Calibri"/>
              </a:rPr>
              <a:t>AWS (Sydney) &amp; Azure (Central India)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2764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Dixith Babu A B | Reg No: 24MIS0427 | Agile Development Process And DevOps Lab (ISWE406P) | Dr. Arunkumar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327648"/>
            <a:ext cx="185897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i="0" sz="900">
                <a:solidFill>
                  <a:srgbClr val="0078D4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950">
                <a:solidFill>
                  <a:srgbClr val="0078D4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2200">
                <a:solidFill>
                  <a:srgbClr val="0F2D5A"/>
                </a:solidFill>
                <a:latin typeface="Calibri"/>
              </a:rPr>
              <a:t>Problem Statement &amp;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3619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The Problem in Modern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i="0" sz="1100">
                <a:solidFill>
                  <a:srgbClr val="DC2626"/>
                </a:solidFill>
                <a:latin typeface="Calibri"/>
              </a:rPr>
              <a:t>Single-Cloud Vulnerability: </a:t>
            </a:r>
            <a:r>
              <a:rPr b="0" i="0" sz="1000">
                <a:solidFill>
                  <a:srgbClr val="1E293B"/>
                </a:solidFill>
                <a:latin typeface="Calibri"/>
              </a:rPr>
              <a:t>Reliance on a single hyperscaler exposes organizations to regional outages, service degradation, and vendor lock-in with unpredictable pricing.</a:t>
            </a:r>
          </a:p>
          <a:p>
            <a:pPr>
              <a:spcAft>
                <a:spcPts val="1400"/>
              </a:spcAft>
            </a:pPr>
            <a:r>
              <a:rPr b="1" i="0" sz="1100">
                <a:solidFill>
                  <a:srgbClr val="DC2626"/>
                </a:solidFill>
                <a:latin typeface="Calibri"/>
              </a:rPr>
              <a:t>Right-Shifted Security Vulnerabilities: </a:t>
            </a:r>
            <a:r>
              <a:rPr b="0" i="0" sz="1000">
                <a:solidFill>
                  <a:srgbClr val="1E293B"/>
                </a:solidFill>
                <a:latin typeface="Calibri"/>
              </a:rPr>
              <a:t>Security scanning is often conducted post-deployment, allowing high-risk CVEs, dependency flaws, and root execution exploits to enter production.</a:t>
            </a:r>
          </a:p>
          <a:p>
            <a:pPr>
              <a:spcAft>
                <a:spcPts val="1400"/>
              </a:spcAft>
            </a:pPr>
            <a:r>
              <a:rPr b="1" i="0" sz="1100">
                <a:solidFill>
                  <a:srgbClr val="DC2626"/>
                </a:solidFill>
                <a:latin typeface="Calibri"/>
              </a:rPr>
              <a:t>Multi-Cloud Delivery Friction: </a:t>
            </a:r>
            <a:r>
              <a:rPr b="0" i="0" sz="1000">
                <a:solidFill>
                  <a:srgbClr val="1E293B"/>
                </a:solidFill>
                <a:latin typeface="Calibri"/>
              </a:rPr>
              <a:t>Deploying across AWS and Azure independently causes configuration drift, fragmented tooling, and severe operational deployment friction.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57200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3619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Proposed Solution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1" i="0" sz="1100">
                <a:solidFill>
                  <a:srgbClr val="16A34A"/>
                </a:solidFill>
                <a:latin typeface="Calibri"/>
              </a:rPr>
              <a:t>Simultaneous Parallel Delivery: </a:t>
            </a:r>
            <a:r>
              <a:rPr b="0" i="0" sz="1000">
                <a:solidFill>
                  <a:srgbClr val="1E293B"/>
                </a:solidFill>
                <a:latin typeface="Calibri"/>
              </a:rPr>
              <a:t>Automate concurrent container promotion to Amazon ECR (ap-southeast-2 Sydney) and Azure ACR (Central India) upon a single Git commit to main.</a:t>
            </a:r>
          </a:p>
          <a:p>
            <a:pPr>
              <a:spcAft>
                <a:spcPts val="1100"/>
              </a:spcAft>
            </a:pPr>
            <a:r>
              <a:rPr b="1" i="0" sz="1100">
                <a:solidFill>
                  <a:srgbClr val="16A34A"/>
                </a:solidFill>
                <a:latin typeface="Calibri"/>
              </a:rPr>
              <a:t>Shift-Left DevSecOps Gates: </a:t>
            </a:r>
            <a:r>
              <a:rPr b="0" i="0" sz="1000">
                <a:solidFill>
                  <a:srgbClr val="1E293B"/>
                </a:solidFill>
                <a:latin typeface="Calibri"/>
              </a:rPr>
              <a:t>Enforce automated Flake8 static linting, Pytest regression testing, and Aqua Trivy CVE scanning before any artifact is compiled or published.</a:t>
            </a:r>
          </a:p>
          <a:p>
            <a:pPr>
              <a:spcAft>
                <a:spcPts val="1100"/>
              </a:spcAft>
            </a:pPr>
            <a:r>
              <a:rPr b="1" i="0" sz="1100">
                <a:solidFill>
                  <a:srgbClr val="16A34A"/>
                </a:solidFill>
                <a:latin typeface="Calibri"/>
              </a:rPr>
              <a:t>Hardened Non-Root Containers: </a:t>
            </a:r>
            <a:r>
              <a:rPr b="0" i="0" sz="1000">
                <a:solidFill>
                  <a:srgbClr val="1E293B"/>
                </a:solidFill>
                <a:latin typeface="Calibri"/>
              </a:rPr>
              <a:t>Engineer a two-stage minimal Dockerfile running under an unprivileged user (UID 10001) for defense-in-depth isolation.</a:t>
            </a:r>
          </a:p>
          <a:p>
            <a:pPr>
              <a:spcAft>
                <a:spcPts val="1100"/>
              </a:spcAft>
            </a:pPr>
            <a:r>
              <a:rPr b="1" i="0" sz="1100">
                <a:solidFill>
                  <a:srgbClr val="16A34A"/>
                </a:solidFill>
                <a:latin typeface="Calibri"/>
              </a:rPr>
              <a:t>Active-Active High Availability: </a:t>
            </a:r>
            <a:r>
              <a:rPr b="0" i="0" sz="1000">
                <a:solidFill>
                  <a:srgbClr val="1E293B"/>
                </a:solidFill>
                <a:latin typeface="Calibri"/>
              </a:rPr>
              <a:t>Provide zero-vendor-lock-in active-active service parity with synchronized /health and /version telemetry.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2764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Dixith Babu A B | Reg No: 24MIS0427 | Agile Development Process And DevOps Lab (ISWE406P) | Dr. Arunkumar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327648"/>
            <a:ext cx="185897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i="0" sz="900">
                <a:solidFill>
                  <a:srgbClr val="0078D4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950">
                <a:solidFill>
                  <a:srgbClr val="0078D4"/>
                </a:solidFill>
                <a:latin typeface="Calibri"/>
              </a:rPr>
              <a:t>AGILE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2200">
                <a:solidFill>
                  <a:srgbClr val="0F2D5A"/>
                </a:solidFill>
                <a:latin typeface="Calibri"/>
              </a:rPr>
              <a:t>Agile Scrum Methodology &amp; Sprint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393192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361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Sprint 1: Base Service &amp;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5087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i="0" sz="1100">
                <a:solidFill>
                  <a:srgbClr val="0078D4"/>
                </a:solidFill>
                <a:latin typeface="Calibri"/>
              </a:rPr>
              <a:t>16 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Engineered Python Flask REST microservice with create_app() factory.</a:t>
            </a:r>
          </a:p>
          <a:p>
            <a:pPr>
              <a:spcAft>
                <a:spcPts val="8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Authored hardened 2-stage Dockerfile with non-root UID 10001.</a:t>
            </a:r>
          </a:p>
          <a:p>
            <a:pPr>
              <a:spcAft>
                <a:spcPts val="8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Defined endpoints: / (discovery), /health (status), and /version.</a:t>
            </a:r>
          </a:p>
          <a:p>
            <a:pPr>
              <a:spcAft>
                <a:spcPts val="8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Established Git repository governance and branch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39319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361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Sprint 2: CI &amp; DevSecOps Quality Gates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5087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i="0" sz="1100">
                <a:solidFill>
                  <a:srgbClr val="16A34A"/>
                </a:solidFill>
                <a:latin typeface="Calibri"/>
              </a:rPr>
              <a:t>15 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Integrated Flake8 enforcing PEP 8 and cyclomatic complexity &lt;= 10.</a:t>
            </a:r>
          </a:p>
          <a:p>
            <a:pPr>
              <a:spcAft>
                <a:spcPts val="8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Developed 6 Pytest unit tests covering status codes and schemas.</a:t>
            </a:r>
          </a:p>
          <a:p>
            <a:pPr>
              <a:spcAft>
                <a:spcPts val="8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Integrated Aqua Security Trivy for container &amp; filesystem CVE scans.</a:t>
            </a:r>
          </a:p>
          <a:p>
            <a:pPr>
              <a:spcAft>
                <a:spcPts val="8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Enforced shift-left automated build break upon security defect.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393192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5361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Sprint 3: Parallel Continuous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15087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i="0" sz="1100">
                <a:solidFill>
                  <a:srgbClr val="FF9900"/>
                </a:solidFill>
                <a:latin typeface="Calibri"/>
              </a:rPr>
              <a:t>15 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Configured GitHub Actions workflow with parallel deployment tracks.</a:t>
            </a:r>
          </a:p>
          <a:p>
            <a:pPr>
              <a:spcAft>
                <a:spcPts val="8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Automated AWS track: IAM authentication, ECR push (Sydney).</a:t>
            </a:r>
          </a:p>
          <a:p>
            <a:pPr>
              <a:spcAft>
                <a:spcPts val="8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Automated Azure track: Service Principal RBAC, ACR push (India).</a:t>
            </a:r>
          </a:p>
          <a:p>
            <a:pPr>
              <a:spcAft>
                <a:spcPts val="8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Validated active-active production probing and telemetry parity.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728655" cy="5943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5955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i="0" sz="1050">
                <a:solidFill>
                  <a:srgbClr val="0F2D5A"/>
                </a:solidFill>
                <a:latin typeface="Calibri"/>
              </a:rPr>
              <a:t>Agile Velocity Summary: </a:t>
            </a:r>
            <a:r>
              <a:rPr b="0" i="0" sz="1050">
                <a:solidFill>
                  <a:srgbClr val="1E293B"/>
                </a:solidFill>
                <a:latin typeface="Calibri"/>
              </a:rPr>
              <a:t>Delivered 46 Story Points across 3 Sprints with a 100% Commitment Completion Rate &amp; Zero Sprint Spillover.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Dixith Babu A B | Reg No: 24MIS0427 | Agile Development Process And DevOps Lab (ISWE406P) | Dr. Arunkumar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327648"/>
            <a:ext cx="185897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i="0" sz="900">
                <a:solidFill>
                  <a:srgbClr val="0078D4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950">
                <a:solidFill>
                  <a:srgbClr val="0078D4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2200">
                <a:solidFill>
                  <a:srgbClr val="0F2D5A"/>
                </a:solidFill>
                <a:latin typeface="Calibri"/>
              </a:rPr>
              <a:t>Enterprise Multi-Cloud Reference Architecture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28655" cy="65794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89788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i="0" sz="950">
                <a:solidFill>
                  <a:srgbClr val="0F2D5A"/>
                </a:solidFill>
                <a:latin typeface="Calibri"/>
              </a:rPr>
              <a:t>Numbered Process Lifecycle: [1] Local Push -&gt; [2] DevSecOps Gates -&gt; [3] Docker OCI -&gt; [4-6] AWS Sydney ECR/AppRunner -&gt; [7-9] Azure India ACR/AppService -&gt; [10] Active-Active Users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2764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Dixith Babu A B | Reg No: 24MIS0427 | Agile Development Process And DevOps Lab (ISWE406P) | Dr. Arunkumar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27648"/>
            <a:ext cx="185897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i="0" sz="900">
                <a:solidFill>
                  <a:srgbClr val="0078D4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950">
                <a:solidFill>
                  <a:srgbClr val="0078D4"/>
                </a:solidFill>
                <a:latin typeface="Calibri"/>
              </a:rPr>
              <a:t>CONTAINERIZATION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2200">
                <a:solidFill>
                  <a:srgbClr val="0F2D5A"/>
                </a:solidFill>
                <a:latin typeface="Calibri"/>
              </a:rPr>
              <a:t>Microservice Architecture &amp; Container Hardening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3619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Python Flask Microservice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i="0" sz="1000">
                <a:solidFill>
                  <a:srgbClr val="1F4E79"/>
                </a:solidFill>
                <a:latin typeface="Calibri"/>
              </a:rPr>
              <a:t>Application Factory Pattern: </a:t>
            </a:r>
            <a:r>
              <a:rPr b="0" i="0" sz="950">
                <a:solidFill>
                  <a:srgbClr val="1E293B"/>
                </a:solidFill>
                <a:latin typeface="Calibri"/>
              </a:rPr>
              <a:t>Engineered with create_app() in src/app.py to ensure isolated state and dynamic test-runner instantiation.</a:t>
            </a:r>
          </a:p>
          <a:p>
            <a:pPr>
              <a:spcAft>
                <a:spcPts val="800"/>
              </a:spcAft>
            </a:pPr>
            <a:r>
              <a:rPr b="1" i="0" sz="1000">
                <a:solidFill>
                  <a:srgbClr val="1F4E79"/>
                </a:solidFill>
                <a:latin typeface="Calibri"/>
              </a:rPr>
              <a:t>GET / (Discovery): </a:t>
            </a:r>
            <a:r>
              <a:rPr b="0" i="0" sz="950">
                <a:solidFill>
                  <a:srgbClr val="1E293B"/>
                </a:solidFill>
                <a:latin typeface="Calibri"/>
              </a:rPr>
              <a:t>Emits service metadata, API capability registry, active version, and start timestamp.</a:t>
            </a:r>
          </a:p>
          <a:p>
            <a:pPr>
              <a:spcAft>
                <a:spcPts val="800"/>
              </a:spcAft>
            </a:pPr>
            <a:r>
              <a:rPr b="1" i="0" sz="1000">
                <a:solidFill>
                  <a:srgbClr val="1F4E79"/>
                </a:solidFill>
                <a:latin typeface="Calibri"/>
              </a:rPr>
              <a:t>GET /health (Health Probe): </a:t>
            </a:r>
            <a:r>
              <a:rPr b="0" i="0" sz="950">
                <a:solidFill>
                  <a:srgbClr val="1E293B"/>
                </a:solidFill>
                <a:latin typeface="Calibri"/>
              </a:rPr>
              <a:t>Returns JSON status ('healthy'), live system uptime (seconds), active cloud provider, and hosting region.</a:t>
            </a:r>
          </a:p>
          <a:p>
            <a:pPr>
              <a:spcAft>
                <a:spcPts val="800"/>
              </a:spcAft>
            </a:pPr>
            <a:r>
              <a:rPr b="1" i="0" sz="1000">
                <a:solidFill>
                  <a:srgbClr val="1F4E79"/>
                </a:solidFill>
                <a:latin typeface="Calibri"/>
              </a:rPr>
              <a:t>GET /version (Release Telemetry): </a:t>
            </a:r>
            <a:r>
              <a:rPr b="0" i="0" sz="950">
                <a:solidFill>
                  <a:srgbClr val="1E293B"/>
                </a:solidFill>
                <a:latin typeface="Calibri"/>
              </a:rPr>
              <a:t>Emits Git commit SHA and environment tags for live cross-cloud deployment synchronization.</a:t>
            </a:r>
          </a:p>
          <a:p>
            <a:pPr>
              <a:spcAft>
                <a:spcPts val="800"/>
              </a:spcAft>
            </a:pPr>
            <a:r>
              <a:rPr b="1" i="0" sz="1000">
                <a:solidFill>
                  <a:srgbClr val="1F4E79"/>
                </a:solidFill>
                <a:latin typeface="Calibri"/>
              </a:rPr>
              <a:t>Production WSGI (Gunicorn): </a:t>
            </a:r>
            <a:r>
              <a:rPr b="0" i="0" sz="950">
                <a:solidFill>
                  <a:srgbClr val="1E293B"/>
                </a:solidFill>
                <a:latin typeface="Calibri"/>
              </a:rPr>
              <a:t>Bound to 0.0.0.0:8080 with 2 worker processes, 4 threads per worker, and 60s timeout.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5720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3619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Hardened Multi-Stage Containerization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i="0" sz="1000">
                <a:solidFill>
                  <a:srgbClr val="0F2D5A"/>
                </a:solidFill>
                <a:latin typeface="Calibri"/>
              </a:rPr>
              <a:t>Multi-Stage Build Pipeline: </a:t>
            </a:r>
            <a:r>
              <a:rPr b="0" i="0" sz="950">
                <a:solidFill>
                  <a:srgbClr val="1E293B"/>
                </a:solidFill>
                <a:latin typeface="Calibri"/>
              </a:rPr>
              <a:t>Stage 1 installs compilers and wheels into /opt/venv. Stage 2 copies only the compiled runtime, omitting GCC, pip cache, and dev packages.</a:t>
            </a:r>
          </a:p>
          <a:p>
            <a:pPr>
              <a:spcAft>
                <a:spcPts val="800"/>
              </a:spcAft>
            </a:pPr>
            <a:r>
              <a:rPr b="1" i="0" sz="1000">
                <a:solidFill>
                  <a:srgbClr val="0F2D5A"/>
                </a:solidFill>
                <a:latin typeface="Calibri"/>
              </a:rPr>
              <a:t>Non-Root Security Context: </a:t>
            </a:r>
            <a:r>
              <a:rPr b="0" i="0" sz="950">
                <a:solidFill>
                  <a:srgbClr val="1E293B"/>
                </a:solidFill>
                <a:latin typeface="Calibri"/>
              </a:rPr>
              <a:t>Enforces CIS Docker Benchmark compliance. Creates appgroup:appuser with explicit UID 10001:10001.</a:t>
            </a:r>
          </a:p>
          <a:p>
            <a:pPr>
              <a:spcAft>
                <a:spcPts val="800"/>
              </a:spcAft>
            </a:pPr>
            <a:r>
              <a:rPr b="1" i="0" sz="1000">
                <a:solidFill>
                  <a:srgbClr val="0F2D5A"/>
                </a:solidFill>
                <a:latin typeface="Calibri"/>
              </a:rPr>
              <a:t>Zero Root Privileges: </a:t>
            </a:r>
            <a:r>
              <a:rPr b="0" i="0" sz="950">
                <a:solidFill>
                  <a:srgbClr val="1E293B"/>
                </a:solidFill>
                <a:latin typeface="Calibri"/>
              </a:rPr>
              <a:t>In the event of a container breakout, the executing process holds zero administrative rights over the host Linux kernel.</a:t>
            </a:r>
          </a:p>
          <a:p>
            <a:pPr>
              <a:spcAft>
                <a:spcPts val="800"/>
              </a:spcAft>
            </a:pPr>
            <a:r>
              <a:rPr b="1" i="0" sz="1000">
                <a:solidFill>
                  <a:srgbClr val="0F2D5A"/>
                </a:solidFill>
                <a:latin typeface="Calibri"/>
              </a:rPr>
              <a:t>Immutable Tagging Convention: </a:t>
            </a:r>
            <a:r>
              <a:rPr b="0" i="0" sz="950">
                <a:solidFill>
                  <a:srgbClr val="1E293B"/>
                </a:solidFill>
                <a:latin typeface="Calibri"/>
              </a:rPr>
              <a:t>Artifacts are dual-tagged with the deterministic Git commit SHA and latest for traceable rollbacks.</a:t>
            </a:r>
          </a:p>
          <a:p>
            <a:pPr>
              <a:spcAft>
                <a:spcPts val="800"/>
              </a:spcAft>
            </a:pPr>
            <a:r>
              <a:rPr b="1" i="0" sz="1000">
                <a:solidFill>
                  <a:srgbClr val="0F2D5A"/>
                </a:solidFill>
                <a:latin typeface="Calibri"/>
              </a:rPr>
              <a:t>Minimal Image Attack Surface: </a:t>
            </a:r>
            <a:r>
              <a:rPr b="0" i="0" sz="950">
                <a:solidFill>
                  <a:srgbClr val="1E293B"/>
                </a:solidFill>
                <a:latin typeface="Calibri"/>
              </a:rPr>
              <a:t>Built atop python:3.13-slim, drastically reducing CVE footprint compared to full base images.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2764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Dixith Babu A B | Reg No: 24MIS0427 | Agile Development Process And DevOps Lab (ISWE406P) | Dr. Arunkumar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327648"/>
            <a:ext cx="185897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i="0" sz="900">
                <a:solidFill>
                  <a:srgbClr val="0078D4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950">
                <a:solidFill>
                  <a:srgbClr val="0078D4"/>
                </a:solidFill>
                <a:latin typeface="Calibri"/>
              </a:rPr>
              <a:t>QUALITY ASSURANCE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2200">
                <a:solidFill>
                  <a:srgbClr val="0F2D5A"/>
                </a:solidFill>
                <a:latin typeface="Calibri"/>
              </a:rPr>
              <a:t>Shift-Left Quality &amp; DevSecOps Security Gates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361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Flake8 Static Linter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508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i="0" sz="900">
                <a:solidFill>
                  <a:srgbClr val="0078D4"/>
                </a:solidFill>
                <a:latin typeface="Calibri"/>
              </a:rPr>
              <a:t>CODE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Automated AST static code analysis across all src/ modules.</a:t>
            </a:r>
          </a:p>
          <a:p>
            <a:pPr>
              <a:spcAft>
                <a:spcPts val="10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Enforces strict PEP 8 formatting and line-length limits (88 chars).</a:t>
            </a:r>
          </a:p>
          <a:p>
            <a:pPr>
              <a:spcAft>
                <a:spcPts val="10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McCabe Cyclomatic Complexity Gate strictly enforced (Max-C &lt;= 10).</a:t>
            </a:r>
          </a:p>
          <a:p>
            <a:pPr>
              <a:spcAft>
                <a:spcPts val="10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Audit Outcome: 0 errors, 0 warnings across entire codebase.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5361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Pytest Regression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508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i="0" sz="900">
                <a:solidFill>
                  <a:srgbClr val="16A34A"/>
                </a:solidFill>
                <a:latin typeface="Calibri"/>
              </a:rPr>
              <a:t>UNIT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6 automated unit test cases using pytest client test fixtures.</a:t>
            </a:r>
          </a:p>
          <a:p>
            <a:pPr>
              <a:spcAft>
                <a:spcPts val="10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Validates discovery (/), health probe (/health), and version (/version).</a:t>
            </a:r>
          </a:p>
          <a:p>
            <a:pPr>
              <a:spcAft>
                <a:spcPts val="10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Verifies dynamic uptime monotonicity and 404 JSON error schemas.</a:t>
            </a:r>
          </a:p>
          <a:p>
            <a:pPr>
              <a:spcAft>
                <a:spcPts val="10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Test Outcome: 6/6 tests passing (100% pass rate in &lt; 0.25s).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3931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5361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Aqua Trivy Vulnerability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1508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1" i="0" sz="900">
                <a:solidFill>
                  <a:srgbClr val="DC2626"/>
                </a:solidFill>
                <a:latin typeface="Calibri"/>
              </a:rPr>
              <a:t>SECURITY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017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Pre-deployment vulnerability scanning of container filesystem &amp; OCI layers.</a:t>
            </a:r>
          </a:p>
          <a:p>
            <a:pPr>
              <a:spcAft>
                <a:spcPts val="10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Continuous detection against NVD and GitHub Advisory CVE databases.</a:t>
            </a:r>
          </a:p>
          <a:p>
            <a:pPr>
              <a:spcAft>
                <a:spcPts val="10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Automated CI build failure upon encountering unmitigated High/Critical CVEs.</a:t>
            </a:r>
          </a:p>
          <a:p>
            <a:pPr>
              <a:spcAft>
                <a:spcPts val="10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Security Outcome: 0 Critical / 0 High CVEs in production image.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486400"/>
            <a:ext cx="10728655" cy="59436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59552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i="0" sz="1050">
                <a:solidFill>
                  <a:srgbClr val="DC2626"/>
                </a:solidFill>
                <a:latin typeface="Calibri"/>
              </a:rPr>
              <a:t>Shift-Left DevSecOps Principle: </a:t>
            </a:r>
            <a:r>
              <a:rPr b="0" i="0" sz="1050">
                <a:solidFill>
                  <a:srgbClr val="1E293B"/>
                </a:solidFill>
                <a:latin typeface="Calibri"/>
              </a:rPr>
              <a:t>Any failure in static linting, unit tests, or CVE thresholds terminates the pipeline immediately, protecting production registries.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32764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Dixith Babu A B | Reg No: 24MIS0427 | Agile Development Process And DevOps Lab (ISWE406P) | Dr. Arunkumar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327648"/>
            <a:ext cx="185897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i="0" sz="900">
                <a:solidFill>
                  <a:srgbClr val="0078D4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950">
                <a:solidFill>
                  <a:srgbClr val="0078D4"/>
                </a:solidFill>
                <a:latin typeface="Calibri"/>
              </a:rPr>
              <a:t>PIPELINE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2200">
                <a:solidFill>
                  <a:srgbClr val="0F2D5A"/>
                </a:solidFill>
                <a:latin typeface="Calibri"/>
              </a:rPr>
              <a:t>GitHub Actions CI/CD Workflow Orchestration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361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Job 1: CI &amp; Security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Runner: Ubuntu Latest (GitHub-Hosted).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Step 1: Repository checkout &amp; Python 3.13 setup.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Step 2: Dependency caching for deterministic builds.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Step 3: Flake8 static linting execution.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Step 4: Pytest automated unit regression suite.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Step 5: Docker image compilation.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Step 6: Aqua Trivy container CVE scanner.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Status: Gate clearance triggers parallel CD jobs.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57200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5361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Job 2: AWS Deployment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Region: Sydney (ap-southeast-2).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Authentication: Scoped IAM Access Keys.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Registry Login: aws-actions/amazon-ecr-login.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Tagging: Git commit SHA + latest tags.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Push: Published to Amazon ECR private repository.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Service Rollout: AWS App Runner container pull.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Telemetry: Logs streamed to Amazon CloudWatch.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Execution Time: Parallel completion in ~1m 45s.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5720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53619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Job 3: Azure Deployment Track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Region: Central India (rg-multicloud).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Authentication: Azure Service Principal (RBAC).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Provider Auto-Registration: Microsoft.Web &amp; ACR.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Registry Login: azure/docker-login.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Tagging: Git commit SHA + latest tags.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Push: Published to Azure Container Registry (ACR).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Service Rollout: Azure Linux App Service update.</a:t>
            </a:r>
          </a:p>
          <a:p>
            <a:pPr>
              <a:spcAft>
                <a:spcPts val="700"/>
              </a:spcAft>
            </a:pPr>
            <a:r>
              <a:rPr b="0" i="0" sz="950">
                <a:solidFill>
                  <a:srgbClr val="1E293B"/>
                </a:solidFill>
                <a:latin typeface="Calibri"/>
              </a:rPr>
              <a:t>• Telemetry: Telemetry streamed to Azure Monitor.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2764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Dixith Babu A B | Reg No: 24MIS0427 | Agile Development Process And DevOps Lab (ISWE406P) | Dr. Arunkumar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327648"/>
            <a:ext cx="185897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i="0" sz="900">
                <a:solidFill>
                  <a:srgbClr val="0078D4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950">
                <a:solidFill>
                  <a:srgbClr val="0078D4"/>
                </a:solidFill>
                <a:latin typeface="Calibri"/>
              </a:rPr>
              <a:t>PROBLEM SOLVING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2200">
                <a:solidFill>
                  <a:srgbClr val="0F2D5A"/>
                </a:solidFill>
                <a:latin typeface="Calibri"/>
              </a:rPr>
              <a:t>Technical Challenges Encountered &amp; Resolutions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554480"/>
            <a:ext cx="329184" cy="329184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5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53619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200">
                <a:solidFill>
                  <a:srgbClr val="0F2D5A"/>
                </a:solidFill>
                <a:latin typeface="Calibri"/>
              </a:rPr>
              <a:t>AWS Service Control Policies (SCP) &amp; Region Restriction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874520"/>
            <a:ext cx="9784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i="0" sz="950">
                <a:solidFill>
                  <a:srgbClr val="DC2626"/>
                </a:solidFill>
                <a:latin typeface="Calibri"/>
              </a:rPr>
              <a:t>Issue: </a:t>
            </a:r>
            <a:r>
              <a:rPr b="0" i="0" sz="919">
                <a:solidFill>
                  <a:srgbClr val="1E293B"/>
                </a:solidFill>
                <a:latin typeface="Calibri"/>
              </a:rPr>
              <a:t>Initial pipeline runs targeting us-east-1 failed with AuthorizationHeaderMalformed and AccessDenied. Investigation revealed organizational SCPs blocking provisioning outside authorized regions.</a:t>
            </a:r>
          </a:p>
          <a:p>
            <a:r>
              <a:rPr b="1" i="0" sz="950">
                <a:solidFill>
                  <a:srgbClr val="16A34A"/>
                </a:solidFill>
                <a:latin typeface="Calibri"/>
              </a:rPr>
              <a:t>Resolution: </a:t>
            </a:r>
            <a:r>
              <a:rPr b="0" i="0" sz="919">
                <a:solidFill>
                  <a:srgbClr val="1E293B"/>
                </a:solidFill>
                <a:latin typeface="Calibri"/>
              </a:rPr>
              <a:t>Re-architected pipeline and Terraform variables to target AWS Sydney (ap-southeast-2). Created ECR repository and validated short-lived IAM credentials within permitted policies.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10728655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3154680"/>
            <a:ext cx="329184" cy="329184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5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3639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200">
                <a:solidFill>
                  <a:srgbClr val="0F2D5A"/>
                </a:solidFill>
                <a:latin typeface="Calibri"/>
              </a:rPr>
              <a:t>Azure Resource Provider Dynamic Auto-Registration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474720"/>
            <a:ext cx="9784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i="0" sz="950">
                <a:solidFill>
                  <a:srgbClr val="DC2626"/>
                </a:solidFill>
                <a:latin typeface="Calibri"/>
              </a:rPr>
              <a:t>Issue: </a:t>
            </a:r>
            <a:r>
              <a:rPr b="0" i="0" sz="919">
                <a:solidFill>
                  <a:srgbClr val="1E293B"/>
                </a:solidFill>
                <a:latin typeface="Calibri"/>
              </a:rPr>
              <a:t>Early Azure deployments failed due to unregistered Resource Providers (Microsoft.ContainerRegistry and Microsoft.Web) in the fresh cloud subscription.</a:t>
            </a:r>
          </a:p>
          <a:p>
            <a:r>
              <a:rPr b="1" i="0" sz="950">
                <a:solidFill>
                  <a:srgbClr val="16A34A"/>
                </a:solidFill>
                <a:latin typeface="Calibri"/>
              </a:rPr>
              <a:t>Resolution: </a:t>
            </a:r>
            <a:r>
              <a:rPr b="0" i="0" sz="919">
                <a:solidFill>
                  <a:srgbClr val="1E293B"/>
                </a:solidFill>
                <a:latin typeface="Calibri"/>
              </a:rPr>
              <a:t>Integrated automated pre-flight CLI registration commands directly in multicloud-deploy.yml (az provider register) to guarantee provider readiness before resource provisioning.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728655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0120" y="4754880"/>
            <a:ext cx="329184" cy="329184"/>
          </a:xfrm>
          <a:prstGeom prst="roundRect">
            <a:avLst/>
          </a:prstGeom>
          <a:solidFill>
            <a:srgbClr val="0078D4"/>
          </a:solidFill>
          <a:ln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i="0" sz="95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736592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1200">
                <a:solidFill>
                  <a:srgbClr val="0F2D5A"/>
                </a:solidFill>
                <a:latin typeface="Calibri"/>
              </a:rPr>
              <a:t>Pytest Cloud Environment Injection Isolation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074920"/>
            <a:ext cx="9784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i="0" sz="950">
                <a:solidFill>
                  <a:srgbClr val="DC2626"/>
                </a:solidFill>
                <a:latin typeface="Calibri"/>
              </a:rPr>
              <a:t>Issue: </a:t>
            </a:r>
            <a:r>
              <a:rPr b="0" i="0" sz="919">
                <a:solidFill>
                  <a:srgbClr val="1E293B"/>
                </a:solidFill>
                <a:latin typeface="Calibri"/>
              </a:rPr>
              <a:t>Testing dynamic runtime provider detection (verifying that the service detects AWS vs Azure) risked polluting global process environment variables across tests.</a:t>
            </a:r>
          </a:p>
          <a:p>
            <a:r>
              <a:rPr b="1" i="0" sz="950">
                <a:solidFill>
                  <a:srgbClr val="16A34A"/>
                </a:solidFill>
                <a:latin typeface="Calibri"/>
              </a:rPr>
              <a:t>Resolution: </a:t>
            </a:r>
            <a:r>
              <a:rPr b="0" i="0" sz="919">
                <a:solidFill>
                  <a:srgbClr val="1E293B"/>
                </a:solidFill>
                <a:latin typeface="Calibri"/>
              </a:rPr>
              <a:t>Architected Pytest monkeypatch fixtures to cleanly inject and teardown CLOUD_PROVIDER and REGION variables, achieving strict test isolation and 100% reproducibility.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2764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Dixith Babu A B | Reg No: 24MIS0427 | Agile Development Process And DevOps Lab (ISWE406P) | Dr. Arunkumar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327648"/>
            <a:ext cx="185897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i="0" sz="900">
                <a:solidFill>
                  <a:srgbClr val="0078D4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950">
                <a:solidFill>
                  <a:srgbClr val="0078D4"/>
                </a:solidFill>
                <a:latin typeface="Calibri"/>
              </a:rPr>
              <a:t>RESULTS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2200">
                <a:solidFill>
                  <a:srgbClr val="0F2D5A"/>
                </a:solidFill>
                <a:latin typeface="Calibri"/>
              </a:rPr>
              <a:t>Experimental Results &amp; Verification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14600" cy="2926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3619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Code Quality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2600">
                <a:solidFill>
                  <a:srgbClr val="0078D4"/>
                </a:solidFill>
                <a:latin typeface="Calibri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i="0" sz="880">
                <a:solidFill>
                  <a:srgbClr val="1E293B"/>
                </a:solidFill>
                <a:latin typeface="Calibri"/>
              </a:rPr>
              <a:t>• Flake8: 0 Errors / 0 Warnings</a:t>
            </a:r>
          </a:p>
          <a:p>
            <a:pPr>
              <a:spcAft>
                <a:spcPts val="400"/>
              </a:spcAft>
            </a:pPr>
            <a:r>
              <a:rPr b="0" i="0" sz="880">
                <a:solidFill>
                  <a:srgbClr val="1E293B"/>
                </a:solidFill>
                <a:latin typeface="Calibri"/>
              </a:rPr>
              <a:t>• PEP 8 Compliance: Verified</a:t>
            </a:r>
          </a:p>
          <a:p>
            <a:pPr>
              <a:spcAft>
                <a:spcPts val="400"/>
              </a:spcAft>
            </a:pPr>
            <a:r>
              <a:rPr b="0" i="0" sz="880">
                <a:solidFill>
                  <a:srgbClr val="1E293B"/>
                </a:solidFill>
                <a:latin typeface="Calibri"/>
              </a:rPr>
              <a:t>• Cyclomatic Complexity: &lt;= 10</a:t>
            </a:r>
          </a:p>
          <a:p>
            <a:pPr>
              <a:spcAft>
                <a:spcPts val="400"/>
              </a:spcAft>
            </a:pPr>
            <a:r>
              <a:rPr b="0" i="0" sz="880">
                <a:solidFill>
                  <a:srgbClr val="1E293B"/>
                </a:solidFill>
                <a:latin typeface="Calibri"/>
              </a:rPr>
              <a:t>• Black-compatible formatting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5576" y="1371600"/>
            <a:ext cx="2514600" cy="2926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53619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Unit Regression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192024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2600">
                <a:solidFill>
                  <a:srgbClr val="16A34A"/>
                </a:solidFill>
                <a:latin typeface="Calibri"/>
              </a:rPr>
              <a:t>6 /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256032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i="0" sz="880">
                <a:solidFill>
                  <a:srgbClr val="1E293B"/>
                </a:solidFill>
                <a:latin typeface="Calibri"/>
              </a:rPr>
              <a:t>• Tests Executed: 6 scenarios</a:t>
            </a:r>
          </a:p>
          <a:p>
            <a:pPr>
              <a:spcAft>
                <a:spcPts val="400"/>
              </a:spcAft>
            </a:pPr>
            <a:r>
              <a:rPr b="0" i="0" sz="880">
                <a:solidFill>
                  <a:srgbClr val="1E293B"/>
                </a:solidFill>
                <a:latin typeface="Calibri"/>
              </a:rPr>
              <a:t>• Status: 100% Passed</a:t>
            </a:r>
          </a:p>
          <a:p>
            <a:pPr>
              <a:spcAft>
                <a:spcPts val="400"/>
              </a:spcAft>
            </a:pPr>
            <a:r>
              <a:rPr b="0" i="0" sz="880">
                <a:solidFill>
                  <a:srgbClr val="1E293B"/>
                </a:solidFill>
                <a:latin typeface="Calibri"/>
              </a:rPr>
              <a:t>• Duration: &lt; 0.25 seconds</a:t>
            </a:r>
          </a:p>
          <a:p>
            <a:pPr>
              <a:spcAft>
                <a:spcPts val="400"/>
              </a:spcAft>
            </a:pPr>
            <a:r>
              <a:rPr b="0" i="0" sz="880">
                <a:solidFill>
                  <a:srgbClr val="1E293B"/>
                </a:solidFill>
                <a:latin typeface="Calibri"/>
              </a:rPr>
              <a:t>• Client fixtures &amp; monkeypatching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71600"/>
            <a:ext cx="2514600" cy="2926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53619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Security CVE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192024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2600">
                <a:solidFill>
                  <a:srgbClr val="16A34A"/>
                </a:solidFill>
                <a:latin typeface="Calibri"/>
              </a:rPr>
              <a:t>0 CVEs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56032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i="0" sz="880">
                <a:solidFill>
                  <a:srgbClr val="1E293B"/>
                </a:solidFill>
                <a:latin typeface="Calibri"/>
              </a:rPr>
              <a:t>• Critical CVEs: 0 detected</a:t>
            </a:r>
          </a:p>
          <a:p>
            <a:pPr>
              <a:spcAft>
                <a:spcPts val="400"/>
              </a:spcAft>
            </a:pPr>
            <a:r>
              <a:rPr b="0" i="0" sz="880">
                <a:solidFill>
                  <a:srgbClr val="1E293B"/>
                </a:solidFill>
                <a:latin typeface="Calibri"/>
              </a:rPr>
              <a:t>• High CVEs: 0 detected</a:t>
            </a:r>
          </a:p>
          <a:p>
            <a:pPr>
              <a:spcAft>
                <a:spcPts val="400"/>
              </a:spcAft>
            </a:pPr>
            <a:r>
              <a:rPr b="0" i="0" sz="880">
                <a:solidFill>
                  <a:srgbClr val="1E293B"/>
                </a:solidFill>
                <a:latin typeface="Calibri"/>
              </a:rPr>
              <a:t>• Base Image: python:3.13-slim</a:t>
            </a:r>
          </a:p>
          <a:p>
            <a:pPr>
              <a:spcAft>
                <a:spcPts val="400"/>
              </a:spcAft>
            </a:pPr>
            <a:r>
              <a:rPr b="0" i="0" sz="880">
                <a:solidFill>
                  <a:srgbClr val="1E293B"/>
                </a:solidFill>
                <a:latin typeface="Calibri"/>
              </a:rPr>
              <a:t>• Non-Root UID: 10001 confirmed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33688" y="1371600"/>
            <a:ext cx="2514600" cy="29260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62288" y="153619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Deployment Parity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6568" y="1920240"/>
            <a:ext cx="2148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i="0" sz="2600">
                <a:solidFill>
                  <a:srgbClr val="FF9900"/>
                </a:solidFill>
                <a:latin typeface="Calibri"/>
              </a:rPr>
              <a:t>2 Clouds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560320"/>
            <a:ext cx="2148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0" i="0" sz="880">
                <a:solidFill>
                  <a:srgbClr val="1E293B"/>
                </a:solidFill>
                <a:latin typeface="Calibri"/>
              </a:rPr>
              <a:t>• AWS Sydney: ap-southeast-2</a:t>
            </a:r>
          </a:p>
          <a:p>
            <a:pPr>
              <a:spcAft>
                <a:spcPts val="400"/>
              </a:spcAft>
            </a:pPr>
            <a:r>
              <a:rPr b="0" i="0" sz="880">
                <a:solidFill>
                  <a:srgbClr val="1E293B"/>
                </a:solidFill>
                <a:latin typeface="Calibri"/>
              </a:rPr>
              <a:t>• Azure India: Central India</a:t>
            </a:r>
          </a:p>
          <a:p>
            <a:pPr>
              <a:spcAft>
                <a:spcPts val="400"/>
              </a:spcAft>
            </a:pPr>
            <a:r>
              <a:rPr b="0" i="0" sz="880">
                <a:solidFill>
                  <a:srgbClr val="1E293B"/>
                </a:solidFill>
                <a:latin typeface="Calibri"/>
              </a:rPr>
              <a:t>• Total Pipeline Time: 3m 42s</a:t>
            </a:r>
          </a:p>
          <a:p>
            <a:pPr>
              <a:spcAft>
                <a:spcPts val="400"/>
              </a:spcAft>
            </a:pPr>
            <a:r>
              <a:rPr b="0" i="0" sz="880">
                <a:solidFill>
                  <a:srgbClr val="1E293B"/>
                </a:solidFill>
                <a:latin typeface="Calibri"/>
              </a:rPr>
              <a:t>• Active-Active /health HTTP 200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480560"/>
            <a:ext cx="10728655" cy="1600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645152"/>
            <a:ext cx="102714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Live Production Endpoint Verification Telemetry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37760"/>
            <a:ext cx="10241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i="0" sz="950">
                <a:solidFill>
                  <a:srgbClr val="0F2D5A"/>
                </a:solidFill>
                <a:latin typeface="Calibri"/>
              </a:rPr>
              <a:t>AWS Sydney Target: </a:t>
            </a:r>
            <a:r>
              <a:rPr b="0" i="0" sz="900">
                <a:solidFill>
                  <a:srgbClr val="1E293B"/>
                </a:solidFill>
                <a:latin typeface="Calibri"/>
              </a:rPr>
              <a:t>Image Tag: 123456789012.dkr.ecr.ap-southeast-2.amazonaws.com/multicloud-pipeline:latest | /health -&gt; HTTP 200 (healthy)</a:t>
            </a:r>
          </a:p>
          <a:p>
            <a:pPr>
              <a:spcAft>
                <a:spcPts val="400"/>
              </a:spcAft>
            </a:pPr>
            <a:r>
              <a:rPr b="1" i="0" sz="950">
                <a:solidFill>
                  <a:srgbClr val="0F2D5A"/>
                </a:solidFill>
                <a:latin typeface="Calibri"/>
              </a:rPr>
              <a:t>Azure India Target: </a:t>
            </a:r>
            <a:r>
              <a:rPr b="0" i="0" sz="900">
                <a:solidFill>
                  <a:srgbClr val="1E293B"/>
                </a:solidFill>
                <a:latin typeface="Calibri"/>
              </a:rPr>
              <a:t>Image Tag: multiclouddevops.azurecr.io/multicloud-devops-pipeline:latest | /health -&gt; HTTP 200 (healthy)</a:t>
            </a:r>
          </a:p>
          <a:p>
            <a:pPr>
              <a:spcAft>
                <a:spcPts val="400"/>
              </a:spcAft>
            </a:pPr>
            <a:r>
              <a:rPr b="1" i="0" sz="950">
                <a:solidFill>
                  <a:srgbClr val="0F2D5A"/>
                </a:solidFill>
                <a:latin typeface="Calibri"/>
              </a:rPr>
              <a:t>Active-Active Sync: </a:t>
            </a:r>
            <a:r>
              <a:rPr b="0" i="0" sz="900">
                <a:solidFill>
                  <a:srgbClr val="1E293B"/>
                </a:solidFill>
                <a:latin typeface="Calibri"/>
              </a:rPr>
              <a:t>Both cloud runtimes report identical commit SHA, zero configuration drift, and independent regional telemetry streams.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32764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Dixith Babu A B | Reg No: 24MIS0427 | Agile Development Process And DevOps Lab (ISWE406P) | Dr. Arunkumar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327648"/>
            <a:ext cx="185897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i="0" sz="900">
                <a:solidFill>
                  <a:srgbClr val="0078D4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950">
                <a:solidFill>
                  <a:srgbClr val="0078D4"/>
                </a:solidFill>
                <a:latin typeface="Calibri"/>
              </a:rPr>
              <a:t>SUMMARY &amp;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2200">
                <a:solidFill>
                  <a:srgbClr val="0F2D5A"/>
                </a:solidFill>
                <a:latin typeface="Calibri"/>
              </a:rPr>
              <a:t>Conclusion &amp; Future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57200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3619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Key Project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i="0" sz="1050">
                <a:solidFill>
                  <a:srgbClr val="0F2D5A"/>
                </a:solidFill>
                <a:latin typeface="Calibri"/>
              </a:rPr>
              <a:t>Cloud Provider Independence: </a:t>
            </a:r>
            <a:r>
              <a:rPr b="0" i="0" sz="980">
                <a:solidFill>
                  <a:srgbClr val="1E293B"/>
                </a:solidFill>
                <a:latin typeface="Calibri"/>
              </a:rPr>
              <a:t>Eliminated single-cloud vendor lock-in by implementing active-active, synchronized deployments across AWS and Microsoft Azure.</a:t>
            </a:r>
          </a:p>
          <a:p>
            <a:pPr>
              <a:spcAft>
                <a:spcPts val="1200"/>
              </a:spcAft>
            </a:pPr>
            <a:r>
              <a:rPr b="1" i="0" sz="1050">
                <a:solidFill>
                  <a:srgbClr val="0F2D5A"/>
                </a:solidFill>
                <a:latin typeface="Calibri"/>
              </a:rPr>
              <a:t>Proactive Security Governance: </a:t>
            </a:r>
            <a:r>
              <a:rPr b="0" i="0" sz="980">
                <a:solidFill>
                  <a:srgbClr val="1E293B"/>
                </a:solidFill>
                <a:latin typeface="Calibri"/>
              </a:rPr>
              <a:t>Embedded shift-left DevSecOps quality gates that successfully prevent vulnerable, non-standard, or failing code from reaching registries.</a:t>
            </a:r>
          </a:p>
          <a:p>
            <a:pPr>
              <a:spcAft>
                <a:spcPts val="1200"/>
              </a:spcAft>
            </a:pPr>
            <a:r>
              <a:rPr b="1" i="0" sz="1050">
                <a:solidFill>
                  <a:srgbClr val="0F2D5A"/>
                </a:solidFill>
                <a:latin typeface="Calibri"/>
              </a:rPr>
              <a:t>Enterprise Hardening: </a:t>
            </a:r>
            <a:r>
              <a:rPr b="0" i="0" sz="980">
                <a:solidFill>
                  <a:srgbClr val="1E293B"/>
                </a:solidFill>
                <a:latin typeface="Calibri"/>
              </a:rPr>
              <a:t>Achieved zero root privileges in container runtime using UID 10001 (appuser) and multi-stage build optimization.</a:t>
            </a:r>
          </a:p>
          <a:p>
            <a:pPr>
              <a:spcAft>
                <a:spcPts val="1200"/>
              </a:spcAft>
            </a:pPr>
            <a:r>
              <a:rPr b="1" i="0" sz="1050">
                <a:solidFill>
                  <a:srgbClr val="0F2D5A"/>
                </a:solidFill>
                <a:latin typeface="Calibri"/>
              </a:rPr>
              <a:t>Agile Engineering Discipline: </a:t>
            </a:r>
            <a:r>
              <a:rPr b="0" i="0" sz="980">
                <a:solidFill>
                  <a:srgbClr val="1E293B"/>
                </a:solidFill>
                <a:latin typeface="Calibri"/>
              </a:rPr>
              <a:t>Demonstrated structured iterative development across 3 Scrum Sprints (46 SP) using Gherkin criteria and automated CI/CD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3619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i="0" sz="1300">
                <a:solidFill>
                  <a:srgbClr val="0F2D5A"/>
                </a:solidFill>
                <a:latin typeface="Calibri"/>
              </a:rPr>
              <a:t>Future Enhancements &amp;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2024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i="0" sz="1050">
                <a:solidFill>
                  <a:srgbClr val="1F4E79"/>
                </a:solidFill>
                <a:latin typeface="Calibri"/>
              </a:rPr>
              <a:t>Global DNS Latency Routing: </a:t>
            </a:r>
            <a:r>
              <a:rPr b="0" i="0" sz="980">
                <a:solidFill>
                  <a:srgbClr val="1E293B"/>
                </a:solidFill>
                <a:latin typeface="Calibri"/>
              </a:rPr>
              <a:t>Integrate Amazon Route 53 or Azure Traffic Manager to automatically route consumer traffic to the lowest-latency cloud endpoint.</a:t>
            </a:r>
          </a:p>
          <a:p>
            <a:pPr>
              <a:spcAft>
                <a:spcPts val="1000"/>
              </a:spcAft>
            </a:pPr>
            <a:r>
              <a:rPr b="1" i="0" sz="1050">
                <a:solidFill>
                  <a:srgbClr val="1F4E79"/>
                </a:solidFill>
                <a:latin typeface="Calibri"/>
              </a:rPr>
              <a:t>Distributed Tracing with OpenTelemetry: </a:t>
            </a:r>
            <a:r>
              <a:rPr b="0" i="0" sz="980">
                <a:solidFill>
                  <a:srgbClr val="1E293B"/>
                </a:solidFill>
                <a:latin typeface="Calibri"/>
              </a:rPr>
              <a:t>Implement cross-cloud distributed telemetry collectors for unified observability across AWS App Runner and Azure App Service.</a:t>
            </a:r>
          </a:p>
          <a:p>
            <a:pPr>
              <a:spcAft>
                <a:spcPts val="1000"/>
              </a:spcAft>
            </a:pPr>
            <a:r>
              <a:rPr b="1" i="0" sz="1050">
                <a:solidFill>
                  <a:srgbClr val="1F4E79"/>
                </a:solidFill>
                <a:latin typeface="Calibri"/>
              </a:rPr>
              <a:t>Multi-Cloud Data Replication: </a:t>
            </a:r>
            <a:r>
              <a:rPr b="0" i="0" sz="980">
                <a:solidFill>
                  <a:srgbClr val="1E293B"/>
                </a:solidFill>
                <a:latin typeface="Calibri"/>
              </a:rPr>
              <a:t>Expand to stateful workloads with cross-cloud database replication using Amazon DynamoDB Global Tables or Azure Cosmos DB.</a:t>
            </a:r>
          </a:p>
          <a:p>
            <a:pPr>
              <a:spcAft>
                <a:spcPts val="1000"/>
              </a:spcAft>
            </a:pPr>
            <a:r>
              <a:rPr b="1" i="0" sz="1050">
                <a:solidFill>
                  <a:srgbClr val="1F4E79"/>
                </a:solidFill>
                <a:latin typeface="Calibri"/>
              </a:rPr>
              <a:t>Kubernetes Expansion (EKS &amp; AKS): </a:t>
            </a:r>
            <a:r>
              <a:rPr b="0" i="0" sz="980">
                <a:solidFill>
                  <a:srgbClr val="1E293B"/>
                </a:solidFill>
                <a:latin typeface="Calibri"/>
              </a:rPr>
              <a:t>Scale deployment targets from PaaS container hosts to managed Kubernetes clusters managed via ArgoCD GitOps controllers.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2764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0" i="0" sz="900">
                <a:solidFill>
                  <a:srgbClr val="64748B"/>
                </a:solidFill>
                <a:latin typeface="Calibri"/>
              </a:rPr>
              <a:t>Dixith Babu A B | Reg No: 24MIS0427 | Agile Development Process And DevOps Lab (ISWE406P) | Dr. Arunkumar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327648"/>
            <a:ext cx="1858975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i="0" sz="900">
                <a:solidFill>
                  <a:srgbClr val="0078D4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